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CAF1-D3DF-C183-8F89-36B2FAF27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4569-9F36-01BD-6463-6EB9EC67DE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1EE3A-CD54-9FF4-5426-258D04662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20E7-FC6F-4B37-9FAC-20635296B73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623EE-3AAB-7B9E-3643-3A6EA946A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13C77-9EB3-001B-4769-78606726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055E5-9586-430B-BA19-260354454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383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486FD-C64F-6A59-9B96-9FF5ED59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9EFC3-4A92-8B35-D960-DCE4864FA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40990-5BF8-46C4-EEBC-244B48A20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20E7-FC6F-4B37-9FAC-20635296B73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3EDD7-1DDC-9CB6-1788-C454A1937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59479-915C-F1C6-4E01-A88C5AC09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055E5-9586-430B-BA19-260354454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16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54E54-6696-F538-5F7B-6474BE5F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4A52C-4BA9-E204-F0F4-9CC5CF7C0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A5495-35BF-7F8A-BC13-7D474B20E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20E7-FC6F-4B37-9FAC-20635296B73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8A987-337A-A661-B7F9-B8ED8655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32731-9D42-FE84-4995-9609ABB1B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055E5-9586-430B-BA19-260354454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96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6E0F-ED18-DF85-451E-C06AF4AB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B37B7-085E-20C4-625C-2FF279ACD3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FA5B7-5C60-F5F1-B266-BF6C37616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5F14F-99D6-42BF-7951-7FBD40B3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20E7-FC6F-4B37-9FAC-20635296B73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69902-1ED8-199E-44EC-7F2800DDF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A95FA-22E5-B901-ABE2-EE5167D13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055E5-9586-430B-BA19-260354454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27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BBCC4-9DD5-D502-2C2A-0E9627D7D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A0CA8-F9B2-9F2E-E27F-B19009679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03A5B-8929-C097-969D-85A4B1181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B1D763-F353-5228-2D5A-D1B737EDA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2715E2-3CC7-C739-6EB5-DF3B6F5FD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4B7411-0A3B-B6C5-0005-6899D13F6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20E7-FC6F-4B37-9FAC-20635296B73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4FBE40-E04E-AE71-A1DD-3CD7FFECC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36474C-2F25-653A-5F0F-7A876B476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055E5-9586-430B-BA19-260354454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589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5C396-56A1-0310-8115-AEEAAB563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1714C-B392-E3AE-9B4C-E1B1980AF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20E7-FC6F-4B37-9FAC-20635296B73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29DF48-1E30-DAB2-C62D-B2DB61762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B5659C-56B1-C17E-8E25-9A2C62A85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055E5-9586-430B-BA19-260354454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11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3E07F2-DC00-5923-EA93-A4A16BE28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20E7-FC6F-4B37-9FAC-20635296B73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77D914-BBE6-C36F-FD4E-D762D946B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1D79D-DB8E-9B41-BF39-DCC4AFB7E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055E5-9586-430B-BA19-260354454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2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E35A1-A9CC-4679-9EC0-C04B16097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2966F-BA4E-9A1F-675E-E88B504B8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1B964-A5E6-899C-4C94-5F73C1EBB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80EF1-E446-B27C-6B75-C6AF2A294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20E7-FC6F-4B37-9FAC-20635296B73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8A176-3D93-D53A-D45D-E85E58EF8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A0948-DDC4-C6A8-E10B-9D9BD32A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055E5-9586-430B-BA19-260354454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086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E6015-15F8-07CD-1649-9302EFC5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EF88F9-5D05-92C2-73B4-C5B3E465E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291A2-F1CC-D990-BD85-70BD319F3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DB807-51B2-E048-D61F-58F3C273B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20E7-FC6F-4B37-9FAC-20635296B73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4BD74-8851-CB73-402D-95C6E8DEC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0A392-7FCD-D639-A2EE-482E6E9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055E5-9586-430B-BA19-260354454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054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E609-2B45-6DA0-691E-507D8D651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8C73C0-E5D8-BC2F-BB26-DDDE6729A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F220B-A560-FD93-C45A-DC2F73E8E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20E7-FC6F-4B37-9FAC-20635296B73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5B7C4-0D85-B578-4073-E084FCB89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C4215-81F0-DA34-242E-4B862D821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055E5-9586-430B-BA19-260354454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692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65BDB0-17C4-A449-686E-553715D06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556DE-A803-5969-9A35-0F81677ED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56DA3-E1CC-C19A-199A-0EC1B891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620E7-FC6F-4B37-9FAC-20635296B73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CF875-9FCC-E531-5BE3-D5F68F4E2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17AAB-BF74-2328-FA45-E99439CB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055E5-9586-430B-BA19-260354454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6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583FAC-8248-4C5C-809D-4C9579A13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38B1A-D6AD-F02A-B611-2958223A7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B781C-9541-B784-5EB7-7EA785669E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620E7-FC6F-4B37-9FAC-20635296B737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E5D54-0249-A57A-EF6E-2C6F86382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FBF7F-A9A9-A070-CB7D-3F66D2F5B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055E5-9586-430B-BA19-260354454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590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03711-E85E-E413-3F7F-54C2254088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Aptos Narrow" panose="020B0004020202020204" pitchFamily="34" charset="0"/>
              </a:rPr>
              <a:t>Phishing Awareness Training</a:t>
            </a:r>
            <a:br>
              <a:rPr lang="en-IN" b="1" dirty="0"/>
            </a:br>
            <a:r>
              <a:rPr lang="en-IN" sz="3100" dirty="0">
                <a:latin typeface="+mn-lt"/>
              </a:rPr>
              <a:t>Protecting Yourself from Online Scams and Cyber Threats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CA78EB-0672-D437-B03E-848FCAD7C2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/>
              <a:t>Prepared by:</a:t>
            </a:r>
            <a:r>
              <a:rPr lang="en-IN"/>
              <a:t> ADEPU SNEHA</a:t>
            </a:r>
            <a:br>
              <a:rPr lang="en-IN"/>
            </a:br>
            <a:r>
              <a:rPr lang="en-IN" b="1"/>
              <a:t>Internship:</a:t>
            </a:r>
            <a:r>
              <a:rPr lang="en-IN"/>
              <a:t> CodeAlpha Cyber Security Internship</a:t>
            </a:r>
          </a:p>
        </p:txBody>
      </p:sp>
    </p:spTree>
    <p:extLst>
      <p:ext uri="{BB962C8B-B14F-4D97-AF65-F5344CB8AC3E}">
        <p14:creationId xmlns:p14="http://schemas.microsoft.com/office/powerpoint/2010/main" val="2686010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C5BEC8-5C93-B280-6DBC-44CF26D6567F}"/>
              </a:ext>
            </a:extLst>
          </p:cNvPr>
          <p:cNvSpPr txBox="1"/>
          <p:nvPr/>
        </p:nvSpPr>
        <p:spPr>
          <a:xfrm>
            <a:off x="418011" y="1088571"/>
            <a:ext cx="113472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latin typeface="Arial Black" panose="020B0A04020102020204" pitchFamily="34" charset="0"/>
              </a:rPr>
              <a:t>Introduction</a:t>
            </a:r>
          </a:p>
          <a:p>
            <a:r>
              <a:rPr lang="en-IN" sz="3200" dirty="0"/>
              <a:t>In today's digital world, cyber criminals use various techniques to steal personal information, passwords, and financial data. One of the most common cyberattacks is </a:t>
            </a:r>
            <a:r>
              <a:rPr lang="en-IN" sz="3200" b="1" dirty="0"/>
              <a:t>phishing</a:t>
            </a:r>
            <a:r>
              <a:rPr lang="en-IN" sz="3200" dirty="0"/>
              <a:t>. Phishing attacks trick users into revealing sensitive information through fake emails, messages, or websites.</a:t>
            </a:r>
          </a:p>
          <a:p>
            <a:r>
              <a:rPr lang="en-IN" sz="3200" dirty="0"/>
              <a:t>This training aims to help users recognize phishing attempts and stay safe online.</a:t>
            </a:r>
          </a:p>
          <a:p>
            <a:endParaRPr lang="en-IN" sz="3200" b="1" u="s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564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6EA5DC-6897-DE1F-B8BC-DBE217D41BA1}"/>
              </a:ext>
            </a:extLst>
          </p:cNvPr>
          <p:cNvSpPr txBox="1"/>
          <p:nvPr/>
        </p:nvSpPr>
        <p:spPr>
          <a:xfrm>
            <a:off x="513806" y="818606"/>
            <a:ext cx="11347268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latin typeface="Arial Black" panose="020B0A04020102020204" pitchFamily="34" charset="0"/>
              </a:rPr>
              <a:t>What is Phishing?</a:t>
            </a:r>
          </a:p>
          <a:p>
            <a:r>
              <a:rPr lang="en-IN" sz="2400" b="1" dirty="0"/>
              <a:t>Phishing</a:t>
            </a:r>
            <a:r>
              <a:rPr lang="en-IN" sz="2400" dirty="0"/>
              <a:t> is a cybercrime where attackers pretend to be trusted organizations or individuals to steal sensitive information.</a:t>
            </a:r>
          </a:p>
          <a:p>
            <a:r>
              <a:rPr lang="en-IN" sz="2400" b="1" dirty="0"/>
              <a:t>Common Targets:</a:t>
            </a:r>
          </a:p>
          <a:p>
            <a:r>
              <a:rPr lang="en-IN" sz="2400" dirty="0"/>
              <a:t>Login credentials </a:t>
            </a:r>
          </a:p>
          <a:p>
            <a:r>
              <a:rPr lang="en-IN" sz="2400" dirty="0"/>
              <a:t>Banking information </a:t>
            </a:r>
          </a:p>
          <a:p>
            <a:r>
              <a:rPr lang="en-IN" sz="2400" dirty="0"/>
              <a:t>Credit card details </a:t>
            </a:r>
          </a:p>
          <a:p>
            <a:r>
              <a:rPr lang="en-IN" sz="2400" dirty="0"/>
              <a:t>Personal information </a:t>
            </a:r>
          </a:p>
          <a:p>
            <a:r>
              <a:rPr lang="en-IN" sz="2400" dirty="0"/>
              <a:t>Company data </a:t>
            </a:r>
          </a:p>
          <a:p>
            <a:r>
              <a:rPr lang="en-IN" sz="2400" b="1" dirty="0"/>
              <a:t>Common Methods:</a:t>
            </a:r>
          </a:p>
          <a:p>
            <a:r>
              <a:rPr lang="en-IN" sz="2400" dirty="0"/>
              <a:t>Emails </a:t>
            </a:r>
          </a:p>
          <a:p>
            <a:r>
              <a:rPr lang="en-IN" sz="2400" dirty="0"/>
              <a:t>SMS (Smishing) </a:t>
            </a:r>
          </a:p>
          <a:p>
            <a:r>
              <a:rPr lang="en-IN" sz="2400" dirty="0"/>
              <a:t>Phone calls (Vishing) </a:t>
            </a:r>
          </a:p>
          <a:p>
            <a:r>
              <a:rPr lang="en-IN" sz="2400" dirty="0"/>
              <a:t>Fake websites </a:t>
            </a:r>
          </a:p>
          <a:p>
            <a:r>
              <a:rPr lang="en-IN" sz="2400" dirty="0"/>
              <a:t>Social media messages </a:t>
            </a:r>
          </a:p>
        </p:txBody>
      </p:sp>
    </p:spTree>
    <p:extLst>
      <p:ext uri="{BB962C8B-B14F-4D97-AF65-F5344CB8AC3E}">
        <p14:creationId xmlns:p14="http://schemas.microsoft.com/office/powerpoint/2010/main" val="2639655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324A33-A8C1-296F-36BB-EC716353E700}"/>
              </a:ext>
            </a:extLst>
          </p:cNvPr>
          <p:cNvSpPr txBox="1"/>
          <p:nvPr/>
        </p:nvSpPr>
        <p:spPr>
          <a:xfrm>
            <a:off x="461554" y="714103"/>
            <a:ext cx="1144306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rial Black" panose="020B0A04020102020204" pitchFamily="34" charset="0"/>
              </a:rPr>
              <a:t>How Phishing Works?</a:t>
            </a:r>
          </a:p>
          <a:p>
            <a:r>
              <a:rPr lang="en-IN" sz="3200" b="1" dirty="0"/>
              <a:t>Step 1:</a:t>
            </a:r>
          </a:p>
          <a:p>
            <a:r>
              <a:rPr lang="en-IN" sz="3200" dirty="0"/>
              <a:t>Attacker creates a fake email or website.</a:t>
            </a:r>
          </a:p>
          <a:p>
            <a:r>
              <a:rPr lang="en-IN" sz="3200" b="1" dirty="0"/>
              <a:t>Step 2:</a:t>
            </a:r>
          </a:p>
          <a:p>
            <a:r>
              <a:rPr lang="en-IN" sz="3200" dirty="0"/>
              <a:t>Victim receives a message appearing to come from a trusted source.</a:t>
            </a:r>
          </a:p>
          <a:p>
            <a:r>
              <a:rPr lang="en-IN" sz="3200" b="1" dirty="0"/>
              <a:t>Step 3:</a:t>
            </a:r>
          </a:p>
          <a:p>
            <a:r>
              <a:rPr lang="en-IN" sz="3200" dirty="0"/>
              <a:t>Victim clicks the malicious link.</a:t>
            </a:r>
          </a:p>
          <a:p>
            <a:r>
              <a:rPr lang="en-IN" sz="3200" b="1" dirty="0"/>
              <a:t>Step 4:</a:t>
            </a:r>
          </a:p>
          <a:p>
            <a:r>
              <a:rPr lang="en-IN" sz="3200" dirty="0"/>
              <a:t>Victim enters personal information.</a:t>
            </a:r>
          </a:p>
          <a:p>
            <a:r>
              <a:rPr lang="en-IN" sz="3200" b="1" dirty="0"/>
              <a:t>Step 5:</a:t>
            </a:r>
          </a:p>
          <a:p>
            <a:r>
              <a:rPr lang="en-IN" sz="3200" dirty="0"/>
              <a:t>Attacker steals the data and misuses it.</a:t>
            </a:r>
          </a:p>
          <a:p>
            <a:endParaRPr lang="en-IN" sz="32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974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FA272B-FC0D-0181-8969-F852A8F393AC}"/>
              </a:ext>
            </a:extLst>
          </p:cNvPr>
          <p:cNvSpPr txBox="1"/>
          <p:nvPr/>
        </p:nvSpPr>
        <p:spPr>
          <a:xfrm>
            <a:off x="383177" y="444137"/>
            <a:ext cx="1144306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latin typeface="Arial Black" panose="020B0A04020102020204" pitchFamily="34" charset="0"/>
              </a:rPr>
              <a:t>How to Recognize Phishing Emails:</a:t>
            </a:r>
          </a:p>
          <a:p>
            <a:r>
              <a:rPr lang="en-IN" sz="2400" dirty="0"/>
              <a:t>1. Unknown sender</a:t>
            </a:r>
          </a:p>
          <a:p>
            <a:r>
              <a:rPr lang="en-IN" sz="2400" dirty="0"/>
              <a:t>2. Spelling and grammar mistakes</a:t>
            </a:r>
          </a:p>
          <a:p>
            <a:r>
              <a:rPr lang="en-IN" sz="2400" dirty="0"/>
              <a:t>3. Urgent or threatening language</a:t>
            </a:r>
          </a:p>
          <a:p>
            <a:r>
              <a:rPr lang="en-IN" sz="2400" dirty="0"/>
              <a:t>4. Suspicious links</a:t>
            </a:r>
          </a:p>
          <a:p>
            <a:r>
              <a:rPr lang="en-IN" sz="2400" dirty="0"/>
              <a:t>5. Requests for passwords or personal information</a:t>
            </a:r>
          </a:p>
          <a:p>
            <a:r>
              <a:rPr lang="en-IN" sz="2400" dirty="0"/>
              <a:t>6. Unexpected attachments</a:t>
            </a:r>
          </a:p>
          <a:p>
            <a:endParaRPr lang="en-IN" sz="3200" b="1" dirty="0">
              <a:latin typeface="Arial Black" panose="020B0A04020102020204" pitchFamily="34" charset="0"/>
            </a:endParaRPr>
          </a:p>
          <a:p>
            <a:r>
              <a:rPr lang="en-IN" sz="3200" b="1" dirty="0">
                <a:latin typeface="Arial Black" panose="020B0A04020102020204" pitchFamily="34" charset="0"/>
              </a:rPr>
              <a:t>Example:</a:t>
            </a:r>
          </a:p>
          <a:p>
            <a:r>
              <a:rPr lang="en-IN" sz="2400" u="sng" dirty="0"/>
              <a:t>"Your account will be suspended in 24 hours! Click here immediately."</a:t>
            </a:r>
          </a:p>
          <a:p>
            <a:r>
              <a:rPr lang="en-IN" sz="2400" dirty="0"/>
              <a:t>Legitimate companies rarely ask for sensitive information through email.</a:t>
            </a:r>
          </a:p>
          <a:p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7209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F1D51D-7AE4-6470-C405-98BC1EE2A639}"/>
              </a:ext>
            </a:extLst>
          </p:cNvPr>
          <p:cNvSpPr txBox="1"/>
          <p:nvPr/>
        </p:nvSpPr>
        <p:spPr>
          <a:xfrm>
            <a:off x="444137" y="426720"/>
            <a:ext cx="11416937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Identifying Fake Websites</a:t>
            </a:r>
          </a:p>
          <a:p>
            <a:r>
              <a:rPr lang="en-IN" b="1" dirty="0"/>
              <a:t> </a:t>
            </a:r>
          </a:p>
          <a:p>
            <a:r>
              <a:rPr lang="en-IN" b="1" u="sng" dirty="0"/>
              <a:t>Check for:</a:t>
            </a:r>
          </a:p>
          <a:p>
            <a:r>
              <a:rPr lang="en-IN" dirty="0"/>
              <a:t> 1.HTTPS and security lock symbol</a:t>
            </a:r>
          </a:p>
          <a:p>
            <a:r>
              <a:rPr lang="en-IN" dirty="0"/>
              <a:t> 2.Correct domain name</a:t>
            </a:r>
          </a:p>
          <a:p>
            <a:r>
              <a:rPr lang="en-IN" dirty="0"/>
              <a:t> 3.Poor design and spelling mistakes</a:t>
            </a:r>
          </a:p>
          <a:p>
            <a:r>
              <a:rPr lang="en-IN" dirty="0"/>
              <a:t> 4.Unusual pop-ups</a:t>
            </a:r>
          </a:p>
          <a:p>
            <a:r>
              <a:rPr lang="en-IN" dirty="0"/>
              <a:t> 5.Requests for sensitive information</a:t>
            </a:r>
          </a:p>
          <a:p>
            <a:r>
              <a:rPr lang="en-IN" sz="3200" b="1" dirty="0">
                <a:latin typeface="Arial Black" panose="020B0A04020102020204" pitchFamily="34" charset="0"/>
              </a:rPr>
              <a:t>Example:</a:t>
            </a:r>
          </a:p>
          <a:p>
            <a:r>
              <a:rPr lang="en-IN" b="1" u="sng" dirty="0"/>
              <a:t>Real Website:</a:t>
            </a:r>
            <a:br>
              <a:rPr lang="en-IN" b="1" u="sng" dirty="0"/>
            </a:br>
            <a:r>
              <a:rPr lang="en-IN" dirty="0"/>
              <a:t>www.amazon.com</a:t>
            </a:r>
          </a:p>
          <a:p>
            <a:r>
              <a:rPr lang="en-IN" b="1" u="sng" dirty="0"/>
              <a:t>Fake Website:</a:t>
            </a:r>
            <a:br>
              <a:rPr lang="en-IN" b="1" u="sng" dirty="0"/>
            </a:br>
            <a:r>
              <a:rPr lang="en-IN" dirty="0"/>
              <a:t>www.amaz0n-security.com</a:t>
            </a:r>
          </a:p>
          <a:p>
            <a:r>
              <a:rPr lang="en-IN" dirty="0"/>
              <a:t>Notice the difference in the spelling.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305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A2A435-21D3-02BA-4449-30BD6095F301}"/>
              </a:ext>
            </a:extLst>
          </p:cNvPr>
          <p:cNvSpPr txBox="1"/>
          <p:nvPr/>
        </p:nvSpPr>
        <p:spPr>
          <a:xfrm>
            <a:off x="435429" y="374468"/>
            <a:ext cx="10554789" cy="5555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latin typeface="Arial Black" panose="020B0A04020102020204" pitchFamily="34" charset="0"/>
              </a:rPr>
              <a:t>Social Engineering Tactics:</a:t>
            </a:r>
          </a:p>
          <a:p>
            <a:r>
              <a:rPr lang="en-IN" sz="2400" dirty="0"/>
              <a:t>Social engineering is the psychological manipulation of people into revealing confidential information.</a:t>
            </a:r>
          </a:p>
          <a:p>
            <a:r>
              <a:rPr lang="en-IN" sz="2400" b="1" u="sng" dirty="0"/>
              <a:t>Common Tactics:</a:t>
            </a:r>
          </a:p>
          <a:p>
            <a:r>
              <a:rPr lang="en-IN" sz="2400" b="1" u="sng" dirty="0"/>
              <a:t>1. Urgency</a:t>
            </a:r>
          </a:p>
          <a:p>
            <a:r>
              <a:rPr lang="en-IN" sz="2400" dirty="0"/>
              <a:t>"Act now or your account will be locked."</a:t>
            </a:r>
          </a:p>
          <a:p>
            <a:r>
              <a:rPr lang="en-IN" sz="2400" b="1" u="sng" dirty="0"/>
              <a:t>2. Fear</a:t>
            </a:r>
          </a:p>
          <a:p>
            <a:r>
              <a:rPr lang="en-IN" sz="2400" dirty="0"/>
              <a:t>"Your bank account has been compromised."</a:t>
            </a:r>
          </a:p>
          <a:p>
            <a:r>
              <a:rPr lang="en-IN" sz="2400" b="1" u="sng" dirty="0"/>
              <a:t>3. Curiosity</a:t>
            </a:r>
          </a:p>
          <a:p>
            <a:r>
              <a:rPr lang="en-IN" sz="2400" dirty="0"/>
              <a:t>"See who viewed your profile."</a:t>
            </a:r>
          </a:p>
          <a:p>
            <a:r>
              <a:rPr lang="en-IN" sz="2400" b="1" u="sng" dirty="0"/>
              <a:t>4. Trust</a:t>
            </a:r>
          </a:p>
          <a:p>
            <a:r>
              <a:rPr lang="en-IN" sz="2400" dirty="0"/>
              <a:t>Pretending to be a bank, government agency, or company representative.</a:t>
            </a:r>
          </a:p>
          <a:p>
            <a:r>
              <a:rPr lang="en-IN" sz="2400" b="1" u="sng" dirty="0"/>
              <a:t>5. Reward</a:t>
            </a:r>
          </a:p>
          <a:p>
            <a:r>
              <a:rPr lang="en-IN" sz="2400" dirty="0"/>
              <a:t>"You won a free smartphone!"</a:t>
            </a:r>
          </a:p>
          <a:p>
            <a:endParaRPr lang="en-IN" sz="11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29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3CD922-6831-7446-07A5-C689C705CEA5}"/>
              </a:ext>
            </a:extLst>
          </p:cNvPr>
          <p:cNvSpPr txBox="1"/>
          <p:nvPr/>
        </p:nvSpPr>
        <p:spPr>
          <a:xfrm>
            <a:off x="296091" y="496389"/>
            <a:ext cx="11634652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latin typeface="Arial Black" panose="020B0A04020102020204" pitchFamily="34" charset="0"/>
              </a:rPr>
              <a:t>Real-World Example:</a:t>
            </a:r>
          </a:p>
          <a:p>
            <a:endParaRPr lang="en-IN" sz="3200" b="1" u="sng" dirty="0">
              <a:latin typeface="Arial Black" panose="020B0A04020102020204" pitchFamily="34" charset="0"/>
            </a:endParaRPr>
          </a:p>
          <a:p>
            <a:r>
              <a:rPr lang="en-IN" sz="2400" b="1" u="sng" dirty="0"/>
              <a:t>Example Scenario:</a:t>
            </a:r>
          </a:p>
          <a:p>
            <a:r>
              <a:rPr lang="en-IN" sz="2400" dirty="0"/>
              <a:t>A user receives an email claiming to be from a bank:</a:t>
            </a:r>
          </a:p>
          <a:p>
            <a:r>
              <a:rPr lang="en-IN" sz="2400" dirty="0"/>
              <a:t>"Dear Customer,</a:t>
            </a:r>
          </a:p>
          <a:p>
            <a:r>
              <a:rPr lang="en-IN" sz="2400" dirty="0"/>
              <a:t>We detected suspicious activity on your account. Please verify your account immediately by clicking the link below."</a:t>
            </a:r>
          </a:p>
          <a:p>
            <a:r>
              <a:rPr lang="en-IN" sz="2400" dirty="0"/>
              <a:t>The link leads to a fake banking website.</a:t>
            </a:r>
          </a:p>
          <a:p>
            <a:r>
              <a:rPr lang="en-IN" sz="2400" dirty="0"/>
              <a:t>The user enters login credentials.</a:t>
            </a:r>
          </a:p>
          <a:p>
            <a:r>
              <a:rPr lang="en-IN" sz="2400" dirty="0"/>
              <a:t>The attacker gains access to the user's bank account.</a:t>
            </a:r>
          </a:p>
          <a:p>
            <a:endParaRPr lang="en-IN" sz="2400" dirty="0"/>
          </a:p>
          <a:p>
            <a:r>
              <a:rPr lang="en-IN" sz="2400" b="1" u="sng" dirty="0"/>
              <a:t>Lesson:</a:t>
            </a:r>
          </a:p>
          <a:p>
            <a:r>
              <a:rPr lang="en-IN" sz="2400" dirty="0"/>
              <a:t>Always verify emails and visit websites directly instead of clicking links.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3530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8C4F5B-F318-72EE-100A-F1C2A06CAF36}"/>
              </a:ext>
            </a:extLst>
          </p:cNvPr>
          <p:cNvSpPr txBox="1"/>
          <p:nvPr/>
        </p:nvSpPr>
        <p:spPr>
          <a:xfrm>
            <a:off x="418011" y="566057"/>
            <a:ext cx="11373395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latin typeface="Arial Black" panose="020B0A04020102020204" pitchFamily="34" charset="0"/>
              </a:rPr>
              <a:t>Best Practices to Avoid Phishing</a:t>
            </a:r>
          </a:p>
          <a:p>
            <a:r>
              <a:rPr lang="en-IN" sz="2400" b="1" u="sng" dirty="0"/>
              <a:t>Do:</a:t>
            </a:r>
          </a:p>
          <a:p>
            <a:r>
              <a:rPr lang="en-IN" sz="2400" dirty="0"/>
              <a:t> Verify sender information</a:t>
            </a:r>
          </a:p>
          <a:p>
            <a:r>
              <a:rPr lang="en-IN" sz="2400" dirty="0"/>
              <a:t> Check URLs carefully</a:t>
            </a:r>
          </a:p>
          <a:p>
            <a:r>
              <a:rPr lang="en-IN" sz="2400" dirty="0"/>
              <a:t> Use strong passwords</a:t>
            </a:r>
          </a:p>
          <a:p>
            <a:r>
              <a:rPr lang="en-IN" sz="2400" dirty="0"/>
              <a:t> Enable Multi-Factor Authentication (MFA)</a:t>
            </a:r>
          </a:p>
          <a:p>
            <a:r>
              <a:rPr lang="en-IN" sz="2400" dirty="0"/>
              <a:t> Keep software updated</a:t>
            </a:r>
          </a:p>
          <a:p>
            <a:r>
              <a:rPr lang="en-IN" sz="2400" dirty="0"/>
              <a:t> Report suspicious emails</a:t>
            </a:r>
          </a:p>
          <a:p>
            <a:r>
              <a:rPr lang="en-IN" sz="2400" dirty="0"/>
              <a:t> Use antivirus software</a:t>
            </a:r>
          </a:p>
          <a:p>
            <a:r>
              <a:rPr lang="en-IN" sz="2400" b="1" u="sng" dirty="0"/>
              <a:t>Don't:</a:t>
            </a:r>
          </a:p>
          <a:p>
            <a:r>
              <a:rPr lang="en-IN" sz="2400" dirty="0"/>
              <a:t> Click suspicious links</a:t>
            </a:r>
          </a:p>
          <a:p>
            <a:r>
              <a:rPr lang="en-IN" sz="2400" dirty="0"/>
              <a:t> Open unknown attachments</a:t>
            </a:r>
          </a:p>
          <a:p>
            <a:r>
              <a:rPr lang="en-IN" sz="2400" dirty="0"/>
              <a:t> Share passwords via email</a:t>
            </a:r>
          </a:p>
          <a:p>
            <a:r>
              <a:rPr lang="en-IN" sz="2400" dirty="0"/>
              <a:t> Trust unsolicited messages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2266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1796CE-7143-58BC-7490-B7E038157D5A}"/>
              </a:ext>
            </a:extLst>
          </p:cNvPr>
          <p:cNvSpPr txBox="1"/>
          <p:nvPr/>
        </p:nvSpPr>
        <p:spPr>
          <a:xfrm>
            <a:off x="513806" y="1497873"/>
            <a:ext cx="11547566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u="sng" dirty="0">
                <a:latin typeface="Arial Black" panose="020B0A04020102020204" pitchFamily="34" charset="0"/>
              </a:rPr>
              <a:t>What To Do If You Become a Victim:</a:t>
            </a:r>
          </a:p>
          <a:p>
            <a:endParaRPr lang="en-IN" b="1" dirty="0"/>
          </a:p>
          <a:p>
            <a:r>
              <a:rPr lang="en-IN" sz="2400" b="1" u="sng" dirty="0"/>
              <a:t>Immediate Actions:</a:t>
            </a:r>
          </a:p>
          <a:p>
            <a:r>
              <a:rPr lang="en-IN" sz="2400" dirty="0"/>
              <a:t>1. Change passwords immediately. </a:t>
            </a:r>
          </a:p>
          <a:p>
            <a:r>
              <a:rPr lang="en-IN" sz="2400" dirty="0"/>
              <a:t>2. Enable MFA. </a:t>
            </a:r>
          </a:p>
          <a:p>
            <a:r>
              <a:rPr lang="en-IN" sz="2400" dirty="0"/>
              <a:t>3. Contact your bank if financial information was exposed. </a:t>
            </a:r>
          </a:p>
          <a:p>
            <a:r>
              <a:rPr lang="en-IN" sz="2400" dirty="0"/>
              <a:t>4. Scan your device for malware. </a:t>
            </a:r>
          </a:p>
          <a:p>
            <a:r>
              <a:rPr lang="en-IN" sz="2400" dirty="0"/>
              <a:t>5. Report the incident to your organization or IT team. </a:t>
            </a:r>
          </a:p>
          <a:p>
            <a:r>
              <a:rPr lang="en-IN" sz="2400" dirty="0"/>
              <a:t>6. Monitor accounts for suspicious activity.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7623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214677-C0DF-997B-E454-B0D19832D380}"/>
              </a:ext>
            </a:extLst>
          </p:cNvPr>
          <p:cNvSpPr txBox="1"/>
          <p:nvPr/>
        </p:nvSpPr>
        <p:spPr>
          <a:xfrm>
            <a:off x="487680" y="609600"/>
            <a:ext cx="11225349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rial Black" panose="020B0A04020102020204" pitchFamily="34" charset="0"/>
              </a:rPr>
              <a:t>Interactive Quiz</a:t>
            </a:r>
          </a:p>
          <a:p>
            <a:r>
              <a:rPr lang="en-IN" sz="2400" b="1" u="sng" dirty="0"/>
              <a:t>Question 1</a:t>
            </a:r>
          </a:p>
          <a:p>
            <a:r>
              <a:rPr lang="en-IN" sz="2400" dirty="0"/>
              <a:t>You receive an email asking you to verify your password immediately.</a:t>
            </a:r>
          </a:p>
          <a:p>
            <a:r>
              <a:rPr lang="en-IN" sz="2400" dirty="0"/>
              <a:t>A) Click the link and verify</a:t>
            </a:r>
          </a:p>
          <a:p>
            <a:r>
              <a:rPr lang="en-IN" sz="2400" dirty="0"/>
              <a:t>B) Ignore warning signs</a:t>
            </a:r>
          </a:p>
          <a:p>
            <a:r>
              <a:rPr lang="en-IN" sz="2400" dirty="0"/>
              <a:t>C) Verify through the official website</a:t>
            </a:r>
          </a:p>
          <a:p>
            <a:r>
              <a:rPr lang="en-IN" sz="2400" b="1" dirty="0"/>
              <a:t>Answer:</a:t>
            </a:r>
            <a:r>
              <a:rPr lang="en-IN" sz="2400" dirty="0"/>
              <a:t> C</a:t>
            </a:r>
          </a:p>
          <a:p>
            <a:br>
              <a:rPr lang="en-IN" sz="2400" dirty="0"/>
            </a:br>
            <a:endParaRPr lang="en-IN" sz="2400" dirty="0"/>
          </a:p>
          <a:p>
            <a:r>
              <a:rPr lang="en-IN" sz="2400" b="1" u="sng" dirty="0"/>
              <a:t>Question 2</a:t>
            </a:r>
          </a:p>
          <a:p>
            <a:r>
              <a:rPr lang="en-IN" sz="2400" dirty="0"/>
              <a:t>Which is a common sign of phishing?</a:t>
            </a:r>
          </a:p>
          <a:p>
            <a:r>
              <a:rPr lang="en-IN" sz="2400" dirty="0"/>
              <a:t>A) Correct domain name</a:t>
            </a:r>
          </a:p>
          <a:p>
            <a:r>
              <a:rPr lang="en-IN" sz="2400" dirty="0"/>
              <a:t>B) Urgent requests for personal information</a:t>
            </a:r>
          </a:p>
          <a:p>
            <a:r>
              <a:rPr lang="en-IN" sz="2400" dirty="0"/>
              <a:t>C) Secure HTTPS connection</a:t>
            </a:r>
          </a:p>
          <a:p>
            <a:r>
              <a:rPr lang="en-IN" sz="2400" b="1" dirty="0"/>
              <a:t>Answer:</a:t>
            </a:r>
            <a:r>
              <a:rPr lang="en-IN" sz="2400" dirty="0"/>
              <a:t> B</a:t>
            </a:r>
          </a:p>
          <a:p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8493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52EEB9-FCD1-B200-C418-317831F3DEA0}"/>
              </a:ext>
            </a:extLst>
          </p:cNvPr>
          <p:cNvSpPr txBox="1"/>
          <p:nvPr/>
        </p:nvSpPr>
        <p:spPr>
          <a:xfrm>
            <a:off x="513806" y="714103"/>
            <a:ext cx="1118180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Question 3</a:t>
            </a:r>
          </a:p>
          <a:p>
            <a:r>
              <a:rPr lang="en-IN" sz="2400" dirty="0"/>
              <a:t>What should you do before clicking a link?</a:t>
            </a:r>
          </a:p>
          <a:p>
            <a:r>
              <a:rPr lang="en-IN" sz="2400" dirty="0"/>
              <a:t>A) Click immediately</a:t>
            </a:r>
          </a:p>
          <a:p>
            <a:r>
              <a:rPr lang="en-IN" sz="2400" dirty="0"/>
              <a:t>B) Check the URL carefully</a:t>
            </a:r>
          </a:p>
          <a:p>
            <a:r>
              <a:rPr lang="en-IN" sz="2400" dirty="0"/>
              <a:t>C) Share it with friends</a:t>
            </a:r>
          </a:p>
          <a:p>
            <a:r>
              <a:rPr lang="en-IN" sz="2400" b="1" dirty="0"/>
              <a:t>Answer:</a:t>
            </a:r>
            <a:r>
              <a:rPr lang="en-IN" sz="2400" dirty="0"/>
              <a:t> B</a:t>
            </a:r>
          </a:p>
          <a:p>
            <a:br>
              <a:rPr lang="en-IN" sz="2400" dirty="0"/>
            </a:br>
            <a:endParaRPr lang="en-IN" sz="2400" dirty="0"/>
          </a:p>
          <a:p>
            <a:r>
              <a:rPr lang="en-IN" sz="2400" b="1" u="sng" dirty="0"/>
              <a:t>Question 4</a:t>
            </a:r>
          </a:p>
          <a:p>
            <a:r>
              <a:rPr lang="en-IN" sz="2400" dirty="0"/>
              <a:t>What is social engineering?</a:t>
            </a:r>
          </a:p>
          <a:p>
            <a:r>
              <a:rPr lang="en-IN" sz="2400" dirty="0"/>
              <a:t>A) Software update</a:t>
            </a:r>
          </a:p>
          <a:p>
            <a:r>
              <a:rPr lang="en-IN" sz="2400" dirty="0"/>
              <a:t>B) Network configuration</a:t>
            </a:r>
          </a:p>
          <a:p>
            <a:r>
              <a:rPr lang="en-IN" sz="2400" dirty="0"/>
              <a:t>C) Manipulating people to reveal information</a:t>
            </a:r>
          </a:p>
          <a:p>
            <a:r>
              <a:rPr lang="en-IN" sz="2400" b="1" dirty="0"/>
              <a:t>Answer:</a:t>
            </a:r>
            <a:r>
              <a:rPr lang="en-IN" sz="2400" dirty="0"/>
              <a:t> 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0025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0D04F8-6A26-52AE-FAC7-B3FEC762F0D5}"/>
              </a:ext>
            </a:extLst>
          </p:cNvPr>
          <p:cNvSpPr txBox="1"/>
          <p:nvPr/>
        </p:nvSpPr>
        <p:spPr>
          <a:xfrm>
            <a:off x="627017" y="1314994"/>
            <a:ext cx="1099892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latin typeface="Arial Black" panose="020B0A04020102020204" pitchFamily="34" charset="0"/>
              </a:rPr>
              <a:t>Key Takeaways:</a:t>
            </a:r>
          </a:p>
          <a:p>
            <a:r>
              <a:rPr lang="en-IN" sz="2400" b="1" dirty="0"/>
              <a:t>Think before you click:</a:t>
            </a:r>
          </a:p>
          <a:p>
            <a:r>
              <a:rPr lang="en-IN" dirty="0"/>
              <a:t> </a:t>
            </a:r>
            <a:r>
              <a:rPr lang="en-IN" sz="2400" dirty="0"/>
              <a:t>*Verify emails and websites</a:t>
            </a:r>
          </a:p>
          <a:p>
            <a:r>
              <a:rPr lang="en-IN" sz="2400" dirty="0"/>
              <a:t> *Never share passwords</a:t>
            </a:r>
          </a:p>
          <a:p>
            <a:r>
              <a:rPr lang="en-IN" sz="2400" dirty="0"/>
              <a:t> *Use MFA whenever possible</a:t>
            </a:r>
          </a:p>
          <a:p>
            <a:r>
              <a:rPr lang="en-IN" sz="2400" dirty="0"/>
              <a:t> *Stay alert to social engineering tactics</a:t>
            </a:r>
          </a:p>
          <a:p>
            <a:r>
              <a:rPr lang="en-IN" sz="2400" dirty="0"/>
              <a:t> *Report suspicious activity immediately</a:t>
            </a:r>
          </a:p>
          <a:p>
            <a:r>
              <a:rPr lang="en-IN" sz="2400" dirty="0"/>
              <a:t>Cybersecurity starts with awareness and caution.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2298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29F657-1A5A-338F-303F-5F0D7A6FB1E3}"/>
              </a:ext>
            </a:extLst>
          </p:cNvPr>
          <p:cNvSpPr txBox="1"/>
          <p:nvPr/>
        </p:nvSpPr>
        <p:spPr>
          <a:xfrm>
            <a:off x="505097" y="409303"/>
            <a:ext cx="111905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Screenshots of phishing emails:</a:t>
            </a:r>
          </a:p>
          <a:p>
            <a:endParaRPr lang="en-IN" sz="3200" u="sng" dirty="0"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700DC2-408A-BED6-5765-41F295668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89" y="947912"/>
            <a:ext cx="5425440" cy="49915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181BCA-88D9-48D1-5C61-E09F345BF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829" y="947912"/>
            <a:ext cx="4817781" cy="499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47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20CE09-D579-F3EC-1164-DFBB67AC702D}"/>
              </a:ext>
            </a:extLst>
          </p:cNvPr>
          <p:cNvSpPr txBox="1"/>
          <p:nvPr/>
        </p:nvSpPr>
        <p:spPr>
          <a:xfrm>
            <a:off x="705394" y="496542"/>
            <a:ext cx="111643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u="sng" dirty="0">
                <a:latin typeface="Arial Black" panose="020B0A04020102020204" pitchFamily="34" charset="0"/>
              </a:rPr>
              <a:t>Cybersecurity Icons: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A5426B-D5AC-CB7E-2566-908CE46D9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94" y="1236244"/>
            <a:ext cx="4938188" cy="49305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86C5BF-3FB0-DB0C-D429-76F988086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940" y="1081836"/>
            <a:ext cx="4663844" cy="469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79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AE51EE-BDDA-6A36-DA99-5CB6049CA13A}"/>
              </a:ext>
            </a:extLst>
          </p:cNvPr>
          <p:cNvSpPr txBox="1"/>
          <p:nvPr/>
        </p:nvSpPr>
        <p:spPr>
          <a:xfrm>
            <a:off x="583474" y="827314"/>
            <a:ext cx="10903132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latin typeface="Arial Black" panose="020B0A04020102020204" pitchFamily="34" charset="0"/>
              </a:rPr>
              <a:t>CONCLUSION</a:t>
            </a:r>
          </a:p>
          <a:p>
            <a:endParaRPr lang="en-IN" b="1" dirty="0"/>
          </a:p>
          <a:p>
            <a:r>
              <a:rPr lang="en-IN" sz="2400" b="1" dirty="0"/>
              <a:t>Cybersecurity Starts With You</a:t>
            </a:r>
          </a:p>
          <a:p>
            <a:r>
              <a:rPr lang="en-IN" sz="2400" dirty="0"/>
              <a:t>Every click matters.</a:t>
            </a:r>
          </a:p>
          <a:p>
            <a:r>
              <a:rPr lang="en-IN" sz="2400" dirty="0"/>
              <a:t>Every password matters.</a:t>
            </a:r>
          </a:p>
          <a:p>
            <a:r>
              <a:rPr lang="en-IN" sz="2400" dirty="0"/>
              <a:t>Every decision matters.</a:t>
            </a:r>
          </a:p>
          <a:p>
            <a:r>
              <a:rPr lang="en-IN" sz="2400" dirty="0"/>
              <a:t>By staying alert and following cybersecurity best practices, we can protect ourselves, our organizations, and our digital future from phishing attacks.</a:t>
            </a:r>
          </a:p>
          <a:p>
            <a:r>
              <a:rPr lang="en-IN" sz="2400" b="1" dirty="0"/>
              <a:t>Stay Aware • Stay Secure • Stay Protected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746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838</Words>
  <Application>Microsoft Office PowerPoint</Application>
  <PresentationFormat>Widescreen</PresentationFormat>
  <Paragraphs>146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 Narrow</vt:lpstr>
      <vt:lpstr>Arial</vt:lpstr>
      <vt:lpstr>Arial Black</vt:lpstr>
      <vt:lpstr>Calibri</vt:lpstr>
      <vt:lpstr>Calibri Light</vt:lpstr>
      <vt:lpstr>Office Theme</vt:lpstr>
      <vt:lpstr>Phishing Awareness Training Protecting Yourself from Online Scams and Cyber Threats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adepu</dc:creator>
  <cp:lastModifiedBy>Sneha adepu</cp:lastModifiedBy>
  <cp:revision>1</cp:revision>
  <dcterms:created xsi:type="dcterms:W3CDTF">2026-06-10T08:31:27Z</dcterms:created>
  <dcterms:modified xsi:type="dcterms:W3CDTF">2026-06-19T05:17:20Z</dcterms:modified>
</cp:coreProperties>
</file>